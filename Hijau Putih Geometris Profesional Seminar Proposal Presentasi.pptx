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League Spartan" panose="020B0604020202020204" charset="0"/>
      <p:regular r:id="rId13"/>
    </p:embeddedFont>
    <p:embeddedFont>
      <p:font typeface="Source Sans Pro" panose="020B0503030403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2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16" y="5979909"/>
            <a:ext cx="4804968" cy="4333207"/>
          </a:xfrm>
          <a:custGeom>
            <a:avLst/>
            <a:gdLst/>
            <a:ahLst/>
            <a:cxnLst/>
            <a:rect l="l" t="t" r="r" b="b"/>
            <a:pathLst>
              <a:path w="4804968" h="4333207">
                <a:moveTo>
                  <a:pt x="0" y="0"/>
                </a:moveTo>
                <a:lnTo>
                  <a:pt x="4804968" y="0"/>
                </a:lnTo>
                <a:lnTo>
                  <a:pt x="4804968" y="4333207"/>
                </a:lnTo>
                <a:lnTo>
                  <a:pt x="0" y="4333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19902" y="2587160"/>
            <a:ext cx="15111399" cy="523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82"/>
              </a:lnSpc>
            </a:pPr>
            <a:r>
              <a:rPr lang="en-US" sz="8145" dirty="0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ARTIFICIAL INTELLIGENCE-BASED PLANT CLASSIFICATION SYSTEM </a:t>
            </a:r>
          </a:p>
          <a:p>
            <a:pPr algn="ctr">
              <a:lnSpc>
                <a:spcPts val="10182"/>
              </a:lnSpc>
            </a:pPr>
            <a:endParaRPr lang="en-US" sz="8145" dirty="0">
              <a:solidFill>
                <a:srgbClr val="00535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Freeform 5"/>
          <p:cNvSpPr/>
          <p:nvPr/>
        </p:nvSpPr>
        <p:spPr>
          <a:xfrm flipH="1" flipV="1">
            <a:off x="13487870" y="-26013"/>
            <a:ext cx="4800130" cy="4328844"/>
          </a:xfrm>
          <a:custGeom>
            <a:avLst/>
            <a:gdLst/>
            <a:ahLst/>
            <a:cxnLst/>
            <a:rect l="l" t="t" r="r" b="b"/>
            <a:pathLst>
              <a:path w="4800130" h="4328844">
                <a:moveTo>
                  <a:pt x="4800130" y="4328844"/>
                </a:moveTo>
                <a:lnTo>
                  <a:pt x="0" y="4328844"/>
                </a:lnTo>
                <a:lnTo>
                  <a:pt x="0" y="0"/>
                </a:lnTo>
                <a:lnTo>
                  <a:pt x="4800130" y="0"/>
                </a:lnTo>
                <a:lnTo>
                  <a:pt x="4800130" y="43288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3416" y="5157025"/>
            <a:ext cx="5507745" cy="5463326"/>
          </a:xfrm>
          <a:prstGeom prst="line">
            <a:avLst/>
          </a:prstGeom>
          <a:ln w="38100" cap="flat">
            <a:solidFill>
              <a:srgbClr val="16BEC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033718" y="-137136"/>
            <a:ext cx="5502199" cy="5457825"/>
          </a:xfrm>
          <a:prstGeom prst="line">
            <a:avLst/>
          </a:prstGeom>
          <a:ln w="38100" cap="flat">
            <a:solidFill>
              <a:srgbClr val="16BEC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961937" y="8159245"/>
            <a:ext cx="2329981" cy="2225486"/>
          </a:xfrm>
          <a:prstGeom prst="line">
            <a:avLst/>
          </a:prstGeom>
          <a:ln w="38100" cap="flat">
            <a:solidFill>
              <a:srgbClr val="0053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4998381" y="-13294"/>
            <a:ext cx="2327635" cy="2223245"/>
          </a:xfrm>
          <a:prstGeom prst="line">
            <a:avLst/>
          </a:prstGeom>
          <a:ln w="38100" cap="flat">
            <a:solidFill>
              <a:srgbClr val="0053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8102768" y="264284"/>
            <a:ext cx="1945667" cy="1945667"/>
          </a:xfrm>
          <a:custGeom>
            <a:avLst/>
            <a:gdLst/>
            <a:ahLst/>
            <a:cxnLst/>
            <a:rect l="l" t="t" r="r" b="b"/>
            <a:pathLst>
              <a:path w="1945667" h="1945667">
                <a:moveTo>
                  <a:pt x="0" y="0"/>
                </a:moveTo>
                <a:lnTo>
                  <a:pt x="1945667" y="0"/>
                </a:lnTo>
                <a:lnTo>
                  <a:pt x="1945667" y="1945667"/>
                </a:lnTo>
                <a:lnTo>
                  <a:pt x="0" y="1945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666438" y="6750421"/>
            <a:ext cx="9297349" cy="93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95326" y="7832687"/>
            <a:ext cx="9639574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43324010 Yusmita Pasaribu 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43324041 Samuel Manalu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43324056 Christina Simanjuntak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A3097-8A3F-51EB-4353-3BFB1D08B579}"/>
              </a:ext>
            </a:extLst>
          </p:cNvPr>
          <p:cNvSpPr txBox="1"/>
          <p:nvPr/>
        </p:nvSpPr>
        <p:spPr>
          <a:xfrm>
            <a:off x="6096000" y="65913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GROUP-19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687471" y="-1219193"/>
            <a:ext cx="4363243" cy="5633626"/>
          </a:xfrm>
          <a:custGeom>
            <a:avLst/>
            <a:gdLst/>
            <a:ahLst/>
            <a:cxnLst/>
            <a:rect l="l" t="t" r="r" b="b"/>
            <a:pathLst>
              <a:path w="4363243" h="5633626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6764" y="1056934"/>
            <a:ext cx="536722" cy="358140"/>
          </a:xfrm>
          <a:custGeom>
            <a:avLst/>
            <a:gdLst/>
            <a:ahLst/>
            <a:cxnLst/>
            <a:rect l="l" t="t" r="r" b="b"/>
            <a:pathLst>
              <a:path w="536722" h="358140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24853" y="318267"/>
            <a:ext cx="11771429" cy="1096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9"/>
              </a:lnSpc>
            </a:pPr>
            <a:r>
              <a:rPr lang="en-US" sz="7031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BACKGROUND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5280" y="2253941"/>
            <a:ext cx="17657441" cy="552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5"/>
              </a:lnSpc>
            </a:pPr>
            <a:r>
              <a:rPr lang="en-US" sz="6275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plant species classification system is designed using AI to identify plants from photos. The system integrates a web application, an AI server, an AI model, and a database to generate predictions and automatically store classification history.</a:t>
            </a:r>
          </a:p>
        </p:txBody>
      </p:sp>
      <p:sp>
        <p:nvSpPr>
          <p:cNvPr id="7" name="Freeform 7"/>
          <p:cNvSpPr/>
          <p:nvPr/>
        </p:nvSpPr>
        <p:spPr>
          <a:xfrm>
            <a:off x="55866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924757" y="0"/>
            <a:ext cx="4363243" cy="5633626"/>
          </a:xfrm>
          <a:custGeom>
            <a:avLst/>
            <a:gdLst/>
            <a:ahLst/>
            <a:cxnLst/>
            <a:rect l="l" t="t" r="r" b="b"/>
            <a:pathLst>
              <a:path w="4363243" h="5633626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6764" y="1056934"/>
            <a:ext cx="536722" cy="358140"/>
          </a:xfrm>
          <a:custGeom>
            <a:avLst/>
            <a:gdLst/>
            <a:ahLst/>
            <a:cxnLst/>
            <a:rect l="l" t="t" r="r" b="b"/>
            <a:pathLst>
              <a:path w="536722" h="358140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23736" y="2543930"/>
            <a:ext cx="10880967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FORMULATION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736" y="3949982"/>
            <a:ext cx="14834456" cy="367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4"/>
              </a:lnSpc>
            </a:pPr>
            <a:r>
              <a:rPr lang="en-US" sz="4145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can a plant species classification system based on Artificial Intelligence be designed and implemented with an AI Server, an Information Server, and a </a:t>
            </a:r>
            <a:r>
              <a:rPr lang="en-US" sz="4145" dirty="0" err="1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ApplicationWeb</a:t>
            </a:r>
            <a:r>
              <a:rPr lang="en-US" sz="4145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how high is the model’s accuracy and how does the system perform in terms of response time and data transmission success rate?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924757" y="0"/>
            <a:ext cx="4363243" cy="5633626"/>
          </a:xfrm>
          <a:custGeom>
            <a:avLst/>
            <a:gdLst/>
            <a:ahLst/>
            <a:cxnLst/>
            <a:rect l="l" t="t" r="r" b="b"/>
            <a:pathLst>
              <a:path w="4363243" h="5633626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77929" y="1559520"/>
            <a:ext cx="10880967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7620" y="2759663"/>
            <a:ext cx="15615335" cy="6243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7"/>
              </a:lnSpc>
            </a:pPr>
            <a:r>
              <a:rPr lang="en-US" sz="3490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develop and test a plant species classification system based on AI, which includes:</a:t>
            </a:r>
          </a:p>
          <a:p>
            <a:pPr algn="l">
              <a:lnSpc>
                <a:spcPts val="4887"/>
              </a:lnSpc>
            </a:pPr>
            <a:endParaRPr lang="en-US" sz="3490" dirty="0">
              <a:solidFill>
                <a:srgbClr val="00535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4887"/>
              </a:lnSpc>
            </a:pPr>
            <a:r>
              <a:rPr lang="en-US" sz="3490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 An AI Server (VM 2) that receives images, preprocesses them, classifies them.</a:t>
            </a:r>
          </a:p>
          <a:p>
            <a:pPr algn="l">
              <a:lnSpc>
                <a:spcPts val="4887"/>
              </a:lnSpc>
            </a:pPr>
            <a:r>
              <a:rPr lang="en-US" sz="3490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 An Information Server (VM 1) that provides physical characteristics, habitat, and care guidance for each plant.</a:t>
            </a:r>
          </a:p>
          <a:p>
            <a:pPr algn="l">
              <a:lnSpc>
                <a:spcPts val="4887"/>
              </a:lnSpc>
            </a:pPr>
            <a:r>
              <a:rPr lang="en-US" sz="3490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 An application interface that displays classification results, statistics, and plant information.</a:t>
            </a:r>
          </a:p>
          <a:p>
            <a:pPr algn="l">
              <a:lnSpc>
                <a:spcPts val="4887"/>
              </a:lnSpc>
            </a:pPr>
            <a:r>
              <a:rPr lang="en-US" sz="3490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 Testing of model accuracy and system performance (response time and transmission success rate).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077" y="-38100"/>
            <a:ext cx="11337373" cy="216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69"/>
              </a:lnSpc>
            </a:pPr>
            <a:r>
              <a:rPr lang="en-US" sz="6855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TOOLS/ TECHNOLOGY TO BE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96" y="3829012"/>
            <a:ext cx="16656904" cy="569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9549" lvl="1" indent="-434774" algn="l">
              <a:lnSpc>
                <a:spcPts val="5638"/>
              </a:lnSpc>
              <a:buAutoNum type="arabicPeriod"/>
            </a:pPr>
            <a:r>
              <a:rPr lang="en-US" sz="402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Web Application: User interface (login, photo upload, historical log page) and Server 1 acting as the backend.</a:t>
            </a:r>
          </a:p>
          <a:p>
            <a:pPr marL="869549" lvl="1" indent="-434774" algn="l">
              <a:lnSpc>
                <a:spcPts val="5638"/>
              </a:lnSpc>
              <a:buAutoNum type="arabicPeriod"/>
            </a:pPr>
            <a:r>
              <a:rPr lang="en-US" sz="402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AI Server (VM 2): Receives images and performs classification.</a:t>
            </a:r>
          </a:p>
          <a:p>
            <a:pPr marL="869549" lvl="1" indent="-434774" algn="l">
              <a:lnSpc>
                <a:spcPts val="5638"/>
              </a:lnSpc>
              <a:buAutoNum type="arabicPeriod"/>
            </a:pPr>
            <a:r>
              <a:rPr lang="en-US" sz="402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AI Model: Plant type classification using a trained dataset.</a:t>
            </a:r>
          </a:p>
          <a:p>
            <a:pPr marL="869549" lvl="1" indent="-434774" algn="l">
              <a:lnSpc>
                <a:spcPts val="5638"/>
              </a:lnSpc>
              <a:buAutoNum type="arabicPeriod"/>
            </a:pPr>
            <a:r>
              <a:rPr lang="en-US" sz="402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db_ai (database on Server 1): Stores classification history; accessed via SQL queries (SELECT).</a:t>
            </a:r>
          </a:p>
          <a:p>
            <a:pPr marL="869549" lvl="1" indent="-434774" algn="l">
              <a:lnSpc>
                <a:spcPts val="5638"/>
              </a:lnSpc>
              <a:buAutoNum type="arabicPeriod"/>
            </a:pPr>
            <a:r>
              <a:rPr lang="en-US" sz="402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Virtual Machines: Server 1 and Server 2 run independently.</a:t>
            </a:r>
          </a:p>
          <a:p>
            <a:pPr algn="l">
              <a:lnSpc>
                <a:spcPts val="5638"/>
              </a:lnSpc>
            </a:pPr>
            <a:endParaRPr lang="en-US" sz="4027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795087" y="3972577"/>
            <a:ext cx="333749" cy="321612"/>
          </a:xfrm>
          <a:custGeom>
            <a:avLst/>
            <a:gdLst/>
            <a:ahLst/>
            <a:cxnLst/>
            <a:rect l="l" t="t" r="r" b="b"/>
            <a:pathLst>
              <a:path w="333749" h="321612">
                <a:moveTo>
                  <a:pt x="0" y="0"/>
                </a:moveTo>
                <a:lnTo>
                  <a:pt x="333749" y="0"/>
                </a:lnTo>
                <a:lnTo>
                  <a:pt x="333749" y="321613"/>
                </a:lnTo>
                <a:lnTo>
                  <a:pt x="0" y="321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55513" y="2802232"/>
            <a:ext cx="6922370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91208" cy="239481"/>
            </a:xfrm>
            <a:custGeom>
              <a:avLst/>
              <a:gdLst/>
              <a:ahLst/>
              <a:cxnLst/>
              <a:rect l="l" t="t" r="r" b="b"/>
              <a:pathLst>
                <a:path w="1491208" h="239481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51070" cy="85585"/>
            </a:xfrm>
            <a:custGeom>
              <a:avLst/>
              <a:gdLst/>
              <a:ahLst/>
              <a:cxnLst/>
              <a:rect l="l" t="t" r="r" b="b"/>
              <a:pathLst>
                <a:path w="1451070" h="85585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69038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077678" y="-1121732"/>
            <a:ext cx="4363243" cy="5633626"/>
          </a:xfrm>
          <a:custGeom>
            <a:avLst/>
            <a:gdLst/>
            <a:ahLst/>
            <a:cxnLst/>
            <a:rect l="l" t="t" r="r" b="b"/>
            <a:pathLst>
              <a:path w="4363243" h="5633626">
                <a:moveTo>
                  <a:pt x="0" y="5633625"/>
                </a:moveTo>
                <a:lnTo>
                  <a:pt x="4363244" y="5633625"/>
                </a:lnTo>
                <a:lnTo>
                  <a:pt x="4363244" y="0"/>
                </a:lnTo>
                <a:lnTo>
                  <a:pt x="0" y="0"/>
                </a:lnTo>
                <a:lnTo>
                  <a:pt x="0" y="56336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64957" y="249217"/>
            <a:ext cx="16142536" cy="107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24"/>
              </a:lnSpc>
            </a:pPr>
            <a:r>
              <a:rPr lang="en-US" sz="6899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LIMITATIONS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4703" y="2462928"/>
            <a:ext cx="16423043" cy="709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 Only species included in the dataset can be classified.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 Input is a static RGB image from a smartphone camera under adequate lighting.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 Output is limited to the species name and confidence score, with no disease detection.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 Accuracy depends on the camera, environmental conditions, and dataset quality.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5. The plant-information database is static and only contains species in the dataset.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6. The interface is limited to monitoring and plant information.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7. The network is assumed stable; basic security is limited to Web Admin login and internal access between servers.</a:t>
            </a:r>
          </a:p>
          <a:p>
            <a:pPr algn="l">
              <a:lnSpc>
                <a:spcPts val="5137"/>
              </a:lnSpc>
            </a:pPr>
            <a:r>
              <a:rPr lang="en-US" sz="3669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8. Testing is done at prototype scale in a controlled environment, without stress testing.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15656" y="1559520"/>
            <a:ext cx="12482781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15656" y="2778163"/>
            <a:ext cx="15290555" cy="683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6"/>
              </a:lnSpc>
            </a:pPr>
            <a:r>
              <a:rPr lang="en-US" sz="4297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 Users find it hard to identify plant species by direct observation alone.</a:t>
            </a:r>
          </a:p>
          <a:p>
            <a:pPr algn="l">
              <a:lnSpc>
                <a:spcPts val="6016"/>
              </a:lnSpc>
            </a:pPr>
            <a:r>
              <a:rPr lang="en-US" sz="4297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 Supporting information such as origin or distribution requires well-stored data sources.</a:t>
            </a:r>
          </a:p>
          <a:p>
            <a:pPr algn="l">
              <a:lnSpc>
                <a:spcPts val="6016"/>
              </a:lnSpc>
            </a:pPr>
            <a:r>
              <a:rPr lang="en-US" sz="4297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 A system is needed that classifies plant images and provides additional information that is easily accessible from a smartphone.</a:t>
            </a:r>
          </a:p>
          <a:p>
            <a:pPr algn="l">
              <a:lnSpc>
                <a:spcPts val="6016"/>
              </a:lnSpc>
            </a:pPr>
            <a:endParaRPr lang="en-US" sz="4297">
              <a:solidFill>
                <a:srgbClr val="00535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6016"/>
              </a:lnSpc>
            </a:pPr>
            <a:r>
              <a:rPr lang="en-US" sz="4297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Plant classification and plant information need to be built in one integrated architecture.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91208" cy="239481"/>
            </a:xfrm>
            <a:custGeom>
              <a:avLst/>
              <a:gdLst/>
              <a:ahLst/>
              <a:cxnLst/>
              <a:rect l="l" t="t" r="r" b="b"/>
              <a:pathLst>
                <a:path w="1491208" h="239481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1070" cy="85585"/>
            </a:xfrm>
            <a:custGeom>
              <a:avLst/>
              <a:gdLst/>
              <a:ahLst/>
              <a:cxnLst/>
              <a:rect l="l" t="t" r="r" b="b"/>
              <a:pathLst>
                <a:path w="1451070" h="85585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35429" y="1517695"/>
            <a:ext cx="13964687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PROBLEM-SOLVING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5429" y="2843364"/>
            <a:ext cx="15323871" cy="520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7"/>
              </a:lnSpc>
            </a:pPr>
            <a:r>
              <a:rPr lang="en-US" sz="3805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Problem: Manually identifying plant species is difficult and slow, and no identification history is preserved.</a:t>
            </a:r>
          </a:p>
          <a:p>
            <a:pPr algn="ctr">
              <a:lnSpc>
                <a:spcPts val="5327"/>
              </a:lnSpc>
            </a:pPr>
            <a:endParaRPr lang="en-US" sz="3805" dirty="0">
              <a:solidFill>
                <a:srgbClr val="00535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ct val="100000"/>
              </a:lnSpc>
            </a:pPr>
            <a:r>
              <a:rPr lang="en-US" sz="3805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Solution : </a:t>
            </a:r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Users upload photos via a web application; the web application sends them to the AI server for classification. The web application then receives the results and stores them in the AI database.</a:t>
            </a:r>
            <a:endParaRPr lang="en-US" sz="3805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ctr">
              <a:lnSpc>
                <a:spcPts val="5327"/>
              </a:lnSpc>
            </a:pPr>
            <a:r>
              <a:rPr lang="en-US" sz="3805" dirty="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Outcome: Plant identification becomes fast and automated, with a recorded history.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15320082" y="-767306"/>
            <a:ext cx="4363243" cy="5633626"/>
          </a:xfrm>
          <a:custGeom>
            <a:avLst/>
            <a:gdLst/>
            <a:ahLst/>
            <a:cxnLst/>
            <a:rect l="l" t="t" r="r" b="b"/>
            <a:pathLst>
              <a:path w="4363243" h="5633626">
                <a:moveTo>
                  <a:pt x="0" y="5633626"/>
                </a:moveTo>
                <a:lnTo>
                  <a:pt x="4363244" y="5633626"/>
                </a:lnTo>
                <a:lnTo>
                  <a:pt x="4363244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077678" y="-1033758"/>
            <a:ext cx="4363243" cy="5633626"/>
          </a:xfrm>
          <a:custGeom>
            <a:avLst/>
            <a:gdLst/>
            <a:ahLst/>
            <a:cxnLst/>
            <a:rect l="l" t="t" r="r" b="b"/>
            <a:pathLst>
              <a:path w="4363243" h="5633626">
                <a:moveTo>
                  <a:pt x="0" y="5633626"/>
                </a:moveTo>
                <a:lnTo>
                  <a:pt x="4363244" y="5633626"/>
                </a:lnTo>
                <a:lnTo>
                  <a:pt x="4363244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7620" y="1783055"/>
            <a:ext cx="15921633" cy="8436635"/>
          </a:xfrm>
          <a:custGeom>
            <a:avLst/>
            <a:gdLst/>
            <a:ahLst/>
            <a:cxnLst/>
            <a:rect l="l" t="t" r="r" b="b"/>
            <a:pathLst>
              <a:path w="15921633" h="8436635">
                <a:moveTo>
                  <a:pt x="0" y="0"/>
                </a:moveTo>
                <a:lnTo>
                  <a:pt x="15921633" y="0"/>
                </a:lnTo>
                <a:lnTo>
                  <a:pt x="15921633" y="8436636"/>
                </a:lnTo>
                <a:lnTo>
                  <a:pt x="0" y="8436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5842" y="204138"/>
            <a:ext cx="11931836" cy="139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26"/>
              </a:lnSpc>
            </a:pPr>
            <a:r>
              <a:rPr lang="en-US" sz="8900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 REVIEW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707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0" y="1826500"/>
            <a:ext cx="8850690" cy="8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163" lvl="1" indent="-399582" algn="l">
              <a:lnSpc>
                <a:spcPts val="5182"/>
              </a:lnSpc>
              <a:buAutoNum type="arabicPeriod"/>
            </a:pPr>
            <a:r>
              <a:rPr lang="en-US" sz="370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Selecting a Photo: The guest takes a photo of the plant using the camera or selects one from the gallery.</a:t>
            </a:r>
          </a:p>
          <a:p>
            <a:pPr marL="799163" lvl="1" indent="-399582" algn="l">
              <a:lnSpc>
                <a:spcPts val="5182"/>
              </a:lnSpc>
              <a:buAutoNum type="arabicPeriod"/>
            </a:pPr>
            <a:r>
              <a:rPr lang="en-US" sz="370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Checking the Photo: The system displays a preview to ensure the photo is suitable.</a:t>
            </a:r>
          </a:p>
          <a:p>
            <a:pPr marL="799163" lvl="1" indent="-399582" algn="l">
              <a:lnSpc>
                <a:spcPts val="5182"/>
              </a:lnSpc>
              <a:buAutoNum type="arabicPeriod"/>
            </a:pPr>
            <a:r>
              <a:rPr lang="en-US" sz="370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Plant Classification: The photo is sent to the AI ​​server for processing.</a:t>
            </a:r>
          </a:p>
          <a:p>
            <a:pPr marL="799163" lvl="1" indent="-399582" algn="l">
              <a:lnSpc>
                <a:spcPts val="5182"/>
              </a:lnSpc>
              <a:buAutoNum type="arabicPeriod"/>
            </a:pPr>
            <a:r>
              <a:rPr lang="en-US" sz="370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Displaying Results: The app displays the plant name, confidence level, and distribution area.</a:t>
            </a:r>
          </a:p>
          <a:p>
            <a:pPr marL="799163" lvl="1" indent="-399582" algn="l">
              <a:lnSpc>
                <a:spcPts val="5182"/>
              </a:lnSpc>
              <a:buAutoNum type="arabicPeriod"/>
            </a:pPr>
            <a:r>
              <a:rPr lang="en-US" sz="3701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Viewing Information: The guest can view detailed information about the plant.</a:t>
            </a:r>
          </a:p>
          <a:p>
            <a:pPr algn="l">
              <a:lnSpc>
                <a:spcPts val="5182"/>
              </a:lnSpc>
            </a:pPr>
            <a:endParaRPr lang="en-US" sz="3701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69038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1302065"/>
            <a:ext cx="6415171" cy="8689380"/>
          </a:xfrm>
          <a:custGeom>
            <a:avLst/>
            <a:gdLst/>
            <a:ahLst/>
            <a:cxnLst/>
            <a:rect l="l" t="t" r="r" b="b"/>
            <a:pathLst>
              <a:path w="6415171" h="8689380">
                <a:moveTo>
                  <a:pt x="0" y="0"/>
                </a:moveTo>
                <a:lnTo>
                  <a:pt x="6415171" y="0"/>
                </a:lnTo>
                <a:lnTo>
                  <a:pt x="6415171" y="8689380"/>
                </a:lnTo>
                <a:lnTo>
                  <a:pt x="0" y="8689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309" t="-8134" r="-58762" b="-461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7377" y="460410"/>
            <a:ext cx="8689923" cy="84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5455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FLOWCHART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707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690380" y="0"/>
            <a:ext cx="1597620" cy="1597620"/>
          </a:xfrm>
          <a:custGeom>
            <a:avLst/>
            <a:gdLst/>
            <a:ahLst/>
            <a:cxnLst/>
            <a:rect l="l" t="t" r="r" b="b"/>
            <a:pathLst>
              <a:path w="1597620" h="1597620">
                <a:moveTo>
                  <a:pt x="0" y="0"/>
                </a:moveTo>
                <a:lnTo>
                  <a:pt x="1597620" y="0"/>
                </a:lnTo>
                <a:lnTo>
                  <a:pt x="1597620" y="1597620"/>
                </a:lnTo>
                <a:lnTo>
                  <a:pt x="0" y="1597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7377" y="460410"/>
            <a:ext cx="8689923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5455" dirty="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8D6AC4-6B3C-890E-4658-D0C0BD68F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8225"/>
            <a:ext cx="8382000" cy="60697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F779AA-ED8C-8262-C61C-AB4A0FEC1363}"/>
              </a:ext>
            </a:extLst>
          </p:cNvPr>
          <p:cNvSpPr txBox="1"/>
          <p:nvPr/>
        </p:nvSpPr>
        <p:spPr>
          <a:xfrm>
            <a:off x="9525000" y="1866900"/>
            <a:ext cx="84582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>
                <a:solidFill>
                  <a:schemeClr val="bg1"/>
                </a:solidFill>
              </a:rPr>
              <a:t>Stateless AI Processing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Web application forwards user images to VM 2 strictly for </a:t>
            </a:r>
            <a:r>
              <a:rPr lang="en-US" sz="3200" dirty="0" err="1">
                <a:solidFill>
                  <a:schemeClr val="bg1"/>
                </a:solidFill>
              </a:rPr>
              <a:t>EfficientNet</a:t>
            </a:r>
            <a:r>
              <a:rPr lang="en-US" sz="3200" dirty="0">
                <a:solidFill>
                  <a:schemeClr val="bg1"/>
                </a:solidFill>
              </a:rPr>
              <a:t> classification.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AutoNum type="arabicPeriod" startAt="2"/>
            </a:pPr>
            <a:r>
              <a:rPr lang="en-US" sz="3200" b="1" dirty="0">
                <a:solidFill>
                  <a:schemeClr val="bg1"/>
                </a:solidFill>
              </a:rPr>
              <a:t>Centralized Data Logic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Web Server (VM 1) handles prediction results, fetches plant data, and logs history.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AutoNum type="arabicPeriod" startAt="3"/>
            </a:pPr>
            <a:r>
              <a:rPr lang="en-US" sz="3200" b="1" dirty="0">
                <a:solidFill>
                  <a:schemeClr val="bg1"/>
                </a:solidFill>
              </a:rPr>
              <a:t>Integrated Management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Web Admin interface provides unified access to logs and botanical information.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b="1" dirty="0"/>
          </a:p>
          <a:p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696</Words>
  <Application>Microsoft Office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League Spartan</vt:lpstr>
      <vt:lpstr>Source Sans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Hijau Putih Geometris Profesional Seminar Proposal Presentasi</dc:title>
  <cp:lastModifiedBy>muel manalu</cp:lastModifiedBy>
  <cp:revision>2</cp:revision>
  <dcterms:created xsi:type="dcterms:W3CDTF">2006-08-16T00:00:00Z</dcterms:created>
  <dcterms:modified xsi:type="dcterms:W3CDTF">2026-10-14T15:02:13Z</dcterms:modified>
  <dc:identifier>DAHX-sfxLaU</dc:identifier>
</cp:coreProperties>
</file>